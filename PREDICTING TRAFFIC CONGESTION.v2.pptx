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79" r:id="rId2"/>
    <p:sldId id="299" r:id="rId3"/>
    <p:sldId id="300" r:id="rId4"/>
    <p:sldId id="301" r:id="rId5"/>
    <p:sldId id="303" r:id="rId6"/>
    <p:sldId id="304" r:id="rId7"/>
    <p:sldId id="305" r:id="rId8"/>
    <p:sldId id="306" r:id="rId9"/>
    <p:sldId id="307" r:id="rId10"/>
    <p:sldId id="308" r:id="rId11"/>
  </p:sldIdLst>
  <p:sldSz cx="18288000" cy="10287000"/>
  <p:notesSz cx="6858000" cy="9144000"/>
  <p:embeddedFontLst>
    <p:embeddedFont>
      <p:font typeface="League Spartan" panose="020B0604020202020204" charset="0"/>
      <p:regular r:id="rId13"/>
      <p:bold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eP9ZtBOnKLqV7J0OR1EseNoT9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BA2EDC-8D01-457A-BD81-DE20196268AA}">
  <a:tblStyle styleId="{2CBA2EDC-8D01-457A-BD81-DE20196268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F81AB64-F92B-4C59-B09B-9E2CECF1228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061" autoAdjust="0"/>
  </p:normalViewPr>
  <p:slideViewPr>
    <p:cSldViewPr snapToGrid="0">
      <p:cViewPr varScale="1">
        <p:scale>
          <a:sx n="42" d="100"/>
          <a:sy n="42" d="100"/>
        </p:scale>
        <p:origin x="9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9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6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D5A57E64-8D20-2194-FF37-1B8BBA6E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86C737DD-1BE2-9CC7-C137-2AA60822F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AD6903B0-254B-9F5D-3875-11456FE6F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355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2B7F9C07-02C6-BF06-13DA-712710C2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824A6FD2-E258-1EC2-BC2F-F0B586832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3FC1D338-1DE7-A3AE-A570-E5242DA75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8251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DBAC473D-B965-01E7-1E79-19C06926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AA43E24C-2CF1-7470-AF97-B48501A6B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2608B7DC-CEEA-F34F-7047-7FA7D4C07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3292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15128453-39F9-A214-FFAF-A0181D1A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DBAED968-2771-C24E-1D92-C2E96E89A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CF9CB68E-7FBA-4E99-D537-E7EBC9F04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1665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C2660C7B-80E1-C6AB-8D68-CA853FDE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53BEEAFA-FABD-FC00-B099-65881AFA2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02C7355D-EFC0-C1D5-1F2C-CBF3CB3D7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9015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C0771764-CF82-3BC5-637D-1EE3E314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8BCCB5B6-A69A-C2D2-7066-21808F8AB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327EA234-3F6F-53D3-ADCD-14F4EDAF1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9816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E3A1CB50-14C1-839D-E5B6-32220111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B5D223FE-4182-92A4-2136-B0744C26E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103A3A21-51C9-0A3F-1FD2-0E97631F2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989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9A462FF7-3861-29AC-5FC7-FD4E8BAA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58616278-8D61-D3CE-27A0-5E18BFD28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98DA6508-A6CE-4B22-725C-F68CD7006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371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36E1C2D7-A3D0-0099-DDBD-686990D2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B8A4EF48-A9EF-1EC8-F620-5D1919E04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BD2D99F7-E209-B0C4-1DD0-E2CC7FBEC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163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4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146" b="-914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4" name="Google Shape;544;p24"/>
          <p:cNvGrpSpPr/>
          <p:nvPr/>
        </p:nvGrpSpPr>
        <p:grpSpPr>
          <a:xfrm>
            <a:off x="1717675" y="-180826"/>
            <a:ext cx="805519" cy="2854176"/>
            <a:chOff x="0" y="-47625"/>
            <a:chExt cx="212153" cy="751717"/>
          </a:xfrm>
        </p:grpSpPr>
        <p:sp>
          <p:nvSpPr>
            <p:cNvPr id="545" name="Google Shape;545;p24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 extrusionOk="0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4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7" name="Google Shape;547;p24"/>
          <p:cNvGrpSpPr/>
          <p:nvPr/>
        </p:nvGrpSpPr>
        <p:grpSpPr>
          <a:xfrm>
            <a:off x="1717675" y="7432824"/>
            <a:ext cx="805519" cy="2854176"/>
            <a:chOff x="0" y="-47625"/>
            <a:chExt cx="212153" cy="751717"/>
          </a:xfrm>
        </p:grpSpPr>
        <p:sp>
          <p:nvSpPr>
            <p:cNvPr id="548" name="Google Shape;548;p24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 extrusionOk="0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24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0" name="Google Shape;550;p24"/>
          <p:cNvGrpSpPr/>
          <p:nvPr/>
        </p:nvGrpSpPr>
        <p:grpSpPr>
          <a:xfrm>
            <a:off x="15615998" y="2684700"/>
            <a:ext cx="2546350" cy="7805445"/>
            <a:chOff x="0" y="-47625"/>
            <a:chExt cx="670644" cy="2055755"/>
          </a:xfrm>
        </p:grpSpPr>
        <p:sp>
          <p:nvSpPr>
            <p:cNvPr id="551" name="Google Shape;551;p24"/>
            <p:cNvSpPr/>
            <p:nvPr/>
          </p:nvSpPr>
          <p:spPr>
            <a:xfrm>
              <a:off x="0" y="0"/>
              <a:ext cx="670644" cy="2008130"/>
            </a:xfrm>
            <a:custGeom>
              <a:avLst/>
              <a:gdLst/>
              <a:ahLst/>
              <a:cxnLst/>
              <a:rect l="l" t="t" r="r" b="b"/>
              <a:pathLst>
                <a:path w="670644" h="2008130" extrusionOk="0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853070"/>
                  </a:lnTo>
                  <a:cubicBezTo>
                    <a:pt x="670644" y="1938707"/>
                    <a:pt x="601221" y="2008130"/>
                    <a:pt x="515583" y="2008130"/>
                  </a:cubicBezTo>
                  <a:lnTo>
                    <a:pt x="155060" y="2008130"/>
                  </a:lnTo>
                  <a:cubicBezTo>
                    <a:pt x="69423" y="2008130"/>
                    <a:pt x="0" y="1938707"/>
                    <a:pt x="0" y="1853070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24"/>
            <p:cNvSpPr txBox="1"/>
            <p:nvPr/>
          </p:nvSpPr>
          <p:spPr>
            <a:xfrm>
              <a:off x="0" y="-47625"/>
              <a:ext cx="670644" cy="2055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3" name="Google Shape;553;p24"/>
          <p:cNvSpPr txBox="1"/>
          <p:nvPr/>
        </p:nvSpPr>
        <p:spPr>
          <a:xfrm>
            <a:off x="1717675" y="4771780"/>
            <a:ext cx="13898323" cy="90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33"/>
              <a:buFont typeface="Arial"/>
              <a:buNone/>
            </a:pPr>
            <a:r>
              <a:rPr lang="en-US" sz="5433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Sub-Team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EA344E0C-60CC-026E-77F5-CE8BC815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0875AA54-D12C-8D7A-5E1D-C32CD8CCA6F4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9486C6AE-7237-5A16-FC71-1917951361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6E3794F1-F833-7F74-FAE0-64874409396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F2154BF6-22C8-BF03-7434-27EDBC5C2B94}"/>
              </a:ext>
            </a:extLst>
          </p:cNvPr>
          <p:cNvGrpSpPr/>
          <p:nvPr/>
        </p:nvGrpSpPr>
        <p:grpSpPr>
          <a:xfrm>
            <a:off x="1028700" y="9823525"/>
            <a:ext cx="6959600" cy="806375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93904D69-4694-42C1-B530-215E0D53BDC4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CEF1E5A1-A658-7458-3C1A-903EFBCC756C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803DDE8E-D47D-12F7-BDF2-B6C8164B2E88}"/>
              </a:ext>
            </a:extLst>
          </p:cNvPr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FEC9F3D3-A3B6-CE0A-7434-F44112A39F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DAA64802-8300-383C-B6DE-90C686951A6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11F3CECE-A3E1-311A-60D1-B8C1F68B44FF}"/>
              </a:ext>
            </a:extLst>
          </p:cNvPr>
          <p:cNvSpPr txBox="1"/>
          <p:nvPr/>
        </p:nvSpPr>
        <p:spPr>
          <a:xfrm>
            <a:off x="564244" y="-8498"/>
            <a:ext cx="8321274" cy="80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8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Models</a:t>
            </a:r>
            <a:endParaRPr sz="3600" b="1" i="0" u="none" strike="noStrike" cap="none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38EF0C-0740-BF88-D046-F42D60E1C46C}"/>
              </a:ext>
            </a:extLst>
          </p:cNvPr>
          <p:cNvSpPr txBox="1"/>
          <p:nvPr/>
        </p:nvSpPr>
        <p:spPr>
          <a:xfrm>
            <a:off x="674915" y="797420"/>
            <a:ext cx="11125199" cy="914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/>
              <a:t>🔍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Modeling Approaches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understand the problem from different perspectives, we applied both classical machine learning and deep learning models to predict hourly traffic volume: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✅ Classical ML Approach: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 Regressor: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 powerful tree model known for its high performance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   in predictive problems.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His ability to interpret results through feature importance.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Fast to train and easy to interpret.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✅ Deep Learning Approach: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LSTM / GRU Networks:</a:t>
            </a:r>
          </a:p>
          <a:p>
            <a:endParaRPr lang="en-US" sz="2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Designed to capture time-series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Can learn patterns from sequences of past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Better suited for modeling trends over time.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🎯 Purpose of Using Both:</a:t>
            </a:r>
          </a:p>
          <a:p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compare different modeling techniques on the same problem.</a:t>
            </a: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find whether the traffic volume is better explained by static feature relationships (</a:t>
            </a: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) or time-sequential patterns (LSTM / GRU).</a:t>
            </a:r>
            <a:endParaRPr lang="ar-EG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19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4A5BF05A-FEE0-8770-C045-884400A3E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371" y="1933311"/>
            <a:ext cx="10798629" cy="686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50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9D3E9FBA-38EE-B77A-3821-F779890D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FF59DB5-0980-D5E8-F8C6-B956D4F95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1" y="708660"/>
            <a:ext cx="8837748" cy="4869180"/>
          </a:xfrm>
          <a:prstGeom prst="rect">
            <a:avLst/>
          </a:prstGeom>
        </p:spPr>
      </p:pic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50058D19-B2F4-5C19-E041-111ABB28DDD5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80619B1C-4CF2-85B0-30F6-E8BC7B3A54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1E2792BE-FB25-0ED4-F92E-16B070FF73E3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9D8922AC-2882-4734-BA6E-F834BA95D725}"/>
              </a:ext>
            </a:extLst>
          </p:cNvPr>
          <p:cNvGrpSpPr/>
          <p:nvPr/>
        </p:nvGrpSpPr>
        <p:grpSpPr>
          <a:xfrm>
            <a:off x="1028700" y="9823525"/>
            <a:ext cx="6959600" cy="806375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F1B809BA-1427-D9FB-DBF8-D4B2F5762D5F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82FFFFF4-D0B7-5D20-BC6A-D8C020F6CEB8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CC30D960-63AE-A061-E2E3-80CA6BA11342}"/>
              </a:ext>
            </a:extLst>
          </p:cNvPr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26B822EF-5037-743B-BB41-84F1FE0CB2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A7BE337B-75C7-B971-5800-ED1C9BB8CA5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E5FEEF27-34A4-2EE7-E330-DCF474FB33A2}"/>
              </a:ext>
            </a:extLst>
          </p:cNvPr>
          <p:cNvSpPr txBox="1"/>
          <p:nvPr/>
        </p:nvSpPr>
        <p:spPr>
          <a:xfrm>
            <a:off x="466271" y="185081"/>
            <a:ext cx="832127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Regressor:</a:t>
            </a:r>
          </a:p>
          <a:p>
            <a:r>
              <a:rPr lang="en-US" sz="2000" b="1" u="sng" dirty="0"/>
              <a:t>Train a Classical ML Model (</a:t>
            </a:r>
            <a:r>
              <a:rPr lang="en-US" sz="2000" b="1" u="sng" dirty="0" err="1"/>
              <a:t>XGBoost</a:t>
            </a:r>
            <a:r>
              <a:rPr lang="en-US" sz="2000" b="1" u="sng" dirty="0"/>
              <a:t>)</a:t>
            </a:r>
          </a:p>
          <a:p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ED73B-363E-A289-588F-7D527DE4E7D3}"/>
              </a:ext>
            </a:extLst>
          </p:cNvPr>
          <p:cNvSpPr txBox="1"/>
          <p:nvPr/>
        </p:nvSpPr>
        <p:spPr>
          <a:xfrm>
            <a:off x="466272" y="929219"/>
            <a:ext cx="851770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Define Features and Target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Split the Dataset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Train the </a:t>
            </a:r>
            <a:r>
              <a:rPr lang="en-US" sz="2400" dirty="0" err="1"/>
              <a:t>XGBoost</a:t>
            </a:r>
            <a:r>
              <a:rPr lang="en-US" sz="2400" dirty="0"/>
              <a:t> Regressor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4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R² Score : 0.96 </a:t>
            </a:r>
          </a:p>
          <a:p>
            <a:pPr marL="525463"/>
            <a:r>
              <a:rPr lang="en-US" sz="2400" dirty="0"/>
              <a:t>The model successfully explained 96% of the variance in traffic  volume, an indication of excellent accuracy.</a:t>
            </a:r>
            <a:endParaRPr lang="en-US" sz="4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12FC0C-3E12-940B-2280-F011B850B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733" y="6069832"/>
            <a:ext cx="6528889" cy="37536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DFC397-8B5A-AADF-F42A-53CB7890E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069833"/>
            <a:ext cx="6528889" cy="37536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A19C5E-44F2-A0F9-C30C-9E932D2F56E4}"/>
              </a:ext>
            </a:extLst>
          </p:cNvPr>
          <p:cNvSpPr txBox="1"/>
          <p:nvPr/>
        </p:nvSpPr>
        <p:spPr>
          <a:xfrm>
            <a:off x="217170" y="5659276"/>
            <a:ext cx="4448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2400" dirty="0"/>
              <a:t>🔍</a:t>
            </a:r>
            <a:r>
              <a:rPr lang="en-US" sz="2300" b="1" dirty="0"/>
              <a:t>Cross-Validation for Model</a:t>
            </a:r>
          </a:p>
          <a:p>
            <a:endParaRPr lang="en-US" sz="2400" dirty="0"/>
          </a:p>
          <a:p>
            <a:r>
              <a:rPr lang="ar-EG" sz="2400" dirty="0"/>
              <a:t>5</a:t>
            </a:r>
            <a:r>
              <a:rPr lang="en-US" sz="2400" dirty="0"/>
              <a:t> - Fold Cross-Validation</a:t>
            </a:r>
            <a:endParaRPr lang="ar-EG" sz="2400" dirty="0"/>
          </a:p>
          <a:p>
            <a:endParaRPr lang="en-US" sz="2400" dirty="0"/>
          </a:p>
          <a:p>
            <a:r>
              <a:rPr lang="en-US" sz="2400" dirty="0"/>
              <a:t>Used 5-fold K-Fold Cross-Validation with shuffling to ensure better randomness.</a:t>
            </a:r>
          </a:p>
          <a:p>
            <a:r>
              <a:rPr lang="en-US" sz="2400" dirty="0"/>
              <a:t>Calculated: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Root Mean Squared Error (RMSE)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R² Score</a:t>
            </a:r>
            <a:endParaRPr lang="ar-EG" sz="2000" dirty="0"/>
          </a:p>
        </p:txBody>
      </p:sp>
    </p:spTree>
    <p:extLst>
      <p:ext uri="{BB962C8B-B14F-4D97-AF65-F5344CB8AC3E}">
        <p14:creationId xmlns:p14="http://schemas.microsoft.com/office/powerpoint/2010/main" val="183632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0F66FB43-7763-45FF-7E5A-13B93441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874118-A29E-5257-B6A6-D979F688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00" y="732563"/>
            <a:ext cx="9864063" cy="9066082"/>
          </a:xfrm>
          <a:prstGeom prst="rect">
            <a:avLst/>
          </a:prstGeom>
        </p:spPr>
      </p:pic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7B56314B-B781-378B-A142-686CA382E5D8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89395393-5D50-8630-02AF-C73C972F49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37867530-2D3F-5470-68A7-15AA7191B390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B5D915D4-466A-6AEF-B8F8-C1B8C51A308F}"/>
              </a:ext>
            </a:extLst>
          </p:cNvPr>
          <p:cNvGrpSpPr/>
          <p:nvPr/>
        </p:nvGrpSpPr>
        <p:grpSpPr>
          <a:xfrm>
            <a:off x="1028700" y="9823525"/>
            <a:ext cx="6959600" cy="806375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AC9EC668-71D0-1AB5-7444-6E80E7EB189E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2C00465E-2FF6-B266-EA2D-2001BC5ECDA0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F62B216A-9FAC-3371-6330-669BE1F64982}"/>
              </a:ext>
            </a:extLst>
          </p:cNvPr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7BD92D75-5198-5074-364B-C219A04F49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36924302-7DBB-5270-D235-0C327C77D8E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97F55EEE-07C3-BEBF-7620-66DAAA502AA7}"/>
              </a:ext>
            </a:extLst>
          </p:cNvPr>
          <p:cNvSpPr txBox="1"/>
          <p:nvPr/>
        </p:nvSpPr>
        <p:spPr>
          <a:xfrm>
            <a:off x="347863" y="12945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Regressor: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66917-F2CB-30FE-3402-DE2CE7FA80F2}"/>
              </a:ext>
            </a:extLst>
          </p:cNvPr>
          <p:cNvSpPr txBox="1"/>
          <p:nvPr/>
        </p:nvSpPr>
        <p:spPr>
          <a:xfrm>
            <a:off x="392959" y="1404015"/>
            <a:ext cx="791104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🔑 Key Influencing Factors (according to the model):</a:t>
            </a:r>
          </a:p>
          <a:p>
            <a:endParaRPr lang="en-US" sz="2400" dirty="0"/>
          </a:p>
          <a:p>
            <a:pPr marL="114300"/>
            <a:r>
              <a:rPr lang="en-US" sz="2400" b="1" dirty="0"/>
              <a:t>Hour: </a:t>
            </a:r>
            <a:r>
              <a:rPr lang="en-US" sz="2400" dirty="0"/>
              <a:t>The most influential factor, underscoring the importance of peak times.</a:t>
            </a:r>
          </a:p>
          <a:p>
            <a:pPr marL="114300"/>
            <a:endParaRPr lang="en-US" sz="2400" dirty="0"/>
          </a:p>
          <a:p>
            <a:pPr marL="114300"/>
            <a:r>
              <a:rPr lang="en-US" sz="2400" b="1" dirty="0"/>
              <a:t>Day of Week: </a:t>
            </a:r>
            <a:r>
              <a:rPr lang="en-US" sz="2400" dirty="0"/>
              <a:t>Clearly distinguishes between workdays and weekends.</a:t>
            </a:r>
          </a:p>
          <a:p>
            <a:pPr marL="114300"/>
            <a:endParaRPr lang="en-US" sz="2400" dirty="0"/>
          </a:p>
          <a:p>
            <a:pPr marL="114300"/>
            <a:endParaRPr lang="en-US" sz="2400" b="1" dirty="0"/>
          </a:p>
          <a:p>
            <a:pPr marL="114300"/>
            <a:r>
              <a:rPr lang="en-US" sz="2400" b="1" dirty="0"/>
              <a:t>Weather: </a:t>
            </a:r>
            <a:r>
              <a:rPr lang="en-US" sz="2400" dirty="0"/>
              <a:t>Has a significant influence, especially severe weather conditions.</a:t>
            </a:r>
          </a:p>
          <a:p>
            <a:pPr marL="114300"/>
            <a:endParaRPr lang="en-US" sz="2400" dirty="0"/>
          </a:p>
          <a:p>
            <a:pPr marL="114300"/>
            <a:r>
              <a:rPr lang="en-US" sz="2400" b="1" dirty="0"/>
              <a:t>Month: </a:t>
            </a:r>
            <a:r>
              <a:rPr lang="en-US" sz="2400" dirty="0"/>
              <a:t>Reflects strong seasonal patterns.</a:t>
            </a:r>
          </a:p>
          <a:p>
            <a:pPr marL="114300"/>
            <a:endParaRPr lang="en-US" sz="2400" dirty="0"/>
          </a:p>
          <a:p>
            <a:pPr marL="114300"/>
            <a:endParaRPr lang="en-US" sz="2400" dirty="0"/>
          </a:p>
          <a:p>
            <a:pPr marL="114300"/>
            <a:r>
              <a:rPr lang="en-US" sz="2400" b="1" dirty="0"/>
              <a:t>Conclusion from this model: </a:t>
            </a:r>
          </a:p>
          <a:p>
            <a:pPr marL="114300"/>
            <a:endParaRPr lang="en-US" sz="2400" dirty="0"/>
          </a:p>
          <a:p>
            <a:pPr marL="114300"/>
            <a:r>
              <a:rPr lang="en-US" sz="2400" dirty="0"/>
              <a:t>Traffic volume can be effectively forecasted by understanding a combination of temporal and environmental factors.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64134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098E5F23-FFB8-1B21-28CC-FAE79233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5DE80898-3451-5307-19FD-2ACC15981A2A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A48B0B12-0B7A-22E4-261B-7ED549EB1F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CA4DCF53-93B9-CEC1-C4B8-9C632566A9D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B00C036A-84F2-3C8D-5E69-467B686F87CF}"/>
              </a:ext>
            </a:extLst>
          </p:cNvPr>
          <p:cNvGrpSpPr/>
          <p:nvPr/>
        </p:nvGrpSpPr>
        <p:grpSpPr>
          <a:xfrm>
            <a:off x="1028700" y="9823525"/>
            <a:ext cx="6959600" cy="806375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4867F5C5-F0BF-788D-4664-BB9B050B8A4E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7C44F978-D717-D06C-2BC4-7E4B27363D92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ABE5211D-7E5F-6321-3C9D-7A2D43B002AE}"/>
              </a:ext>
            </a:extLst>
          </p:cNvPr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05902C4B-6A90-A3AA-8EBA-280DFA984C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9EE50DDD-D87E-5306-21FC-4D00F68BE15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EF792103-99E7-6EAA-4F04-1901C7A6334F}"/>
              </a:ext>
            </a:extLst>
          </p:cNvPr>
          <p:cNvSpPr/>
          <p:nvPr/>
        </p:nvSpPr>
        <p:spPr>
          <a:xfrm>
            <a:off x="653058" y="450454"/>
            <a:ext cx="6212781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200" b="1" dirty="0">
                <a:latin typeface="Aptos (Body)"/>
                <a:ea typeface="Kanit Light" pitchFamily="34" charset="-122"/>
                <a:cs typeface="Kanit Light" pitchFamily="34" charset="-120"/>
              </a:rPr>
              <a:t>LSTM Model Data Preparation Flow</a:t>
            </a:r>
            <a:endParaRPr lang="en-US" sz="3200" b="1" dirty="0">
              <a:latin typeface="Aptos (Body)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531ED5A3-7E9E-D1F7-631D-D8A9F571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57" y="1187275"/>
            <a:ext cx="1141819" cy="1737360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E88D523F-920D-C7C3-B05D-6CDD22EA5C2A}"/>
              </a:ext>
            </a:extLst>
          </p:cNvPr>
          <p:cNvSpPr/>
          <p:nvPr/>
        </p:nvSpPr>
        <p:spPr>
          <a:xfrm>
            <a:off x="2066984" y="1610400"/>
            <a:ext cx="204093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Aptos (Body)"/>
                <a:ea typeface="Kanit Light" pitchFamily="34" charset="-122"/>
                <a:cs typeface="Kanit Light" pitchFamily="34" charset="-120"/>
              </a:rPr>
              <a:t>Select Features</a:t>
            </a:r>
            <a:endParaRPr lang="en-US" sz="2000" b="1" dirty="0">
              <a:latin typeface="Aptos (Body)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3E9A6E3-AA65-A48E-28A2-B93767689275}"/>
              </a:ext>
            </a:extLst>
          </p:cNvPr>
          <p:cNvSpPr/>
          <p:nvPr/>
        </p:nvSpPr>
        <p:spPr>
          <a:xfrm>
            <a:off x="2066984" y="2122557"/>
            <a:ext cx="990629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dirty="0">
                <a:latin typeface="Aptos (Body)"/>
                <a:ea typeface="Martel Sans" pitchFamily="34" charset="-122"/>
                <a:cs typeface="Martel Sans" pitchFamily="34" charset="-120"/>
              </a:rPr>
              <a:t>Choose important columns including time-based features, weather/season indicators, continuous weather data, and target variable.</a:t>
            </a:r>
            <a:endParaRPr lang="en-US" sz="2000" dirty="0">
              <a:latin typeface="Aptos (Body)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A750082A-3007-D708-B6D1-DED98599B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6" y="2924635"/>
            <a:ext cx="1143000" cy="173736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B4E7F4F9-71A6-C93B-DD0B-C10C7F5215BA}"/>
              </a:ext>
            </a:extLst>
          </p:cNvPr>
          <p:cNvSpPr/>
          <p:nvPr/>
        </p:nvSpPr>
        <p:spPr>
          <a:xfrm>
            <a:off x="2066984" y="3448342"/>
            <a:ext cx="204093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Aptos (Body)"/>
                <a:ea typeface="Kanit Light" pitchFamily="34" charset="-122"/>
                <a:cs typeface="Kanit Light" pitchFamily="34" charset="-120"/>
              </a:rPr>
              <a:t>Convert Dummies</a:t>
            </a:r>
            <a:endParaRPr lang="en-US" sz="2000" b="1" dirty="0">
              <a:latin typeface="Aptos (Body)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175F4F5A-C39D-71A1-7074-BA9C3B97968A}"/>
              </a:ext>
            </a:extLst>
          </p:cNvPr>
          <p:cNvSpPr/>
          <p:nvPr/>
        </p:nvSpPr>
        <p:spPr>
          <a:xfrm>
            <a:off x="2066984" y="3841751"/>
            <a:ext cx="990629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dirty="0">
                <a:latin typeface="Aptos (Body)"/>
                <a:ea typeface="Martel Sans" pitchFamily="34" charset="-122"/>
                <a:cs typeface="Martel Sans" pitchFamily="34" charset="-120"/>
              </a:rPr>
              <a:t>Transform dummy variables into integer format for model compatibility.</a:t>
            </a:r>
            <a:endParaRPr lang="en-US" sz="2000" dirty="0">
              <a:latin typeface="Aptos (Body)"/>
            </a:endParaRPr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3172591D-4B4F-D887-E0AB-B44D0FB7A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76" y="4588271"/>
            <a:ext cx="1143000" cy="1737360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D8362D22-E192-2E1D-6F12-630D74E60629}"/>
              </a:ext>
            </a:extLst>
          </p:cNvPr>
          <p:cNvSpPr/>
          <p:nvPr/>
        </p:nvSpPr>
        <p:spPr>
          <a:xfrm>
            <a:off x="2066984" y="5025041"/>
            <a:ext cx="204093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Aptos (Body)"/>
                <a:ea typeface="Kanit Light" pitchFamily="34" charset="-122"/>
                <a:cs typeface="Kanit Light" pitchFamily="34" charset="-120"/>
              </a:rPr>
              <a:t>Train/Test Split</a:t>
            </a:r>
            <a:endParaRPr lang="en-US" sz="2000" b="1" dirty="0">
              <a:latin typeface="Aptos (Body)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C10BF78F-E913-DFF4-5231-C568CF4A8E31}"/>
              </a:ext>
            </a:extLst>
          </p:cNvPr>
          <p:cNvSpPr/>
          <p:nvPr/>
        </p:nvSpPr>
        <p:spPr>
          <a:xfrm>
            <a:off x="2066984" y="5565419"/>
            <a:ext cx="990629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dirty="0">
                <a:latin typeface="Aptos (Body)"/>
                <a:ea typeface="Martel Sans" pitchFamily="34" charset="-122"/>
                <a:cs typeface="Martel Sans" pitchFamily="34" charset="-120"/>
              </a:rPr>
              <a:t>Split data by time: training set ≤ 2017, testing set &gt; 2017 to prevent data leakage.</a:t>
            </a:r>
            <a:endParaRPr lang="en-US" sz="2000" dirty="0">
              <a:latin typeface="Aptos (Body)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9CEBBB7A-4572-EEC0-B016-4AE68A5CE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76" y="6275061"/>
            <a:ext cx="1141819" cy="1737065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18D09686-A7F9-E496-EC7B-2480ED54B10A}"/>
              </a:ext>
            </a:extLst>
          </p:cNvPr>
          <p:cNvSpPr/>
          <p:nvPr/>
        </p:nvSpPr>
        <p:spPr>
          <a:xfrm>
            <a:off x="2066984" y="6601740"/>
            <a:ext cx="204093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Aptos (Body)"/>
                <a:ea typeface="Kanit Light" pitchFamily="34" charset="-122"/>
                <a:cs typeface="Kanit Light" pitchFamily="34" charset="-120"/>
              </a:rPr>
              <a:t>Feature Scaling</a:t>
            </a:r>
            <a:endParaRPr lang="en-US" sz="2000" b="1" dirty="0">
              <a:latin typeface="Aptos (Body)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3F0A2D8-029F-21D5-974E-E87407AF67D6}"/>
              </a:ext>
            </a:extLst>
          </p:cNvPr>
          <p:cNvSpPr/>
          <p:nvPr/>
        </p:nvSpPr>
        <p:spPr>
          <a:xfrm>
            <a:off x="2066984" y="7112139"/>
            <a:ext cx="990629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dirty="0">
                <a:latin typeface="Aptos (Body)"/>
                <a:ea typeface="Martel Sans" pitchFamily="34" charset="-122"/>
                <a:cs typeface="Martel Sans" pitchFamily="34" charset="-120"/>
              </a:rPr>
              <a:t>Apply Min Max Scaler fitted on training data; normalize all data between 0 and 1.</a:t>
            </a:r>
            <a:endParaRPr lang="en-US" sz="2000" dirty="0">
              <a:latin typeface="Aptos (Body)"/>
            </a:endParaRPr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064714B6-D976-0ACA-9016-D1B1107C1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13" y="7989266"/>
            <a:ext cx="1141819" cy="1737065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8CDF8C4D-C574-C91E-A6DA-14CCC7E14496}"/>
              </a:ext>
            </a:extLst>
          </p:cNvPr>
          <p:cNvSpPr/>
          <p:nvPr/>
        </p:nvSpPr>
        <p:spPr>
          <a:xfrm>
            <a:off x="2066984" y="8407039"/>
            <a:ext cx="2040930" cy="2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b="1" dirty="0">
                <a:latin typeface="Aptos (Body)"/>
                <a:ea typeface="Kanit Light" pitchFamily="34" charset="-122"/>
                <a:cs typeface="Kanit Light" pitchFamily="34" charset="-120"/>
              </a:rPr>
              <a:t>Create Sequences</a:t>
            </a:r>
            <a:endParaRPr lang="en-US" sz="2000" b="1" dirty="0">
              <a:latin typeface="Aptos (Body)"/>
            </a:endParaRPr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56276430-A7FA-134B-B905-46EEFDFB72BB}"/>
              </a:ext>
            </a:extLst>
          </p:cNvPr>
          <p:cNvSpPr/>
          <p:nvPr/>
        </p:nvSpPr>
        <p:spPr>
          <a:xfrm>
            <a:off x="2066984" y="8825155"/>
            <a:ext cx="990629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2000" dirty="0">
                <a:latin typeface="Aptos (Body)"/>
                <a:ea typeface="Martel Sans" pitchFamily="34" charset="-122"/>
                <a:cs typeface="Martel Sans" pitchFamily="34" charset="-120"/>
              </a:rPr>
              <a:t>Use sliding window of 3 previous hours as input (X) to predict current hour traffic volume (y).</a:t>
            </a:r>
            <a:endParaRPr lang="en-US" sz="2000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82896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B828BB96-FF2B-AC3A-169E-55449E28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F157E8-776B-F457-3B82-5958E552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0" y="732564"/>
            <a:ext cx="7858877" cy="4451372"/>
          </a:xfrm>
          <a:prstGeom prst="rect">
            <a:avLst/>
          </a:prstGeom>
        </p:spPr>
      </p:pic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5D256372-342E-3FCF-3923-477C4540AB14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A129C2BF-DE0F-C225-4511-C3B97408FB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5C52B3F9-F604-01A4-6E1B-4FD036DC591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5F14C879-66A6-7211-6C29-7504D3A8BADE}"/>
              </a:ext>
            </a:extLst>
          </p:cNvPr>
          <p:cNvGrpSpPr/>
          <p:nvPr/>
        </p:nvGrpSpPr>
        <p:grpSpPr>
          <a:xfrm>
            <a:off x="1028700" y="9554437"/>
            <a:ext cx="6959600" cy="1075463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E3E35F5F-E953-8EF8-148C-42780740C7EC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63073C96-AA60-4FA5-79CB-C3BF8F1685D5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34D2B825-EB83-7F03-0310-E45508674BED}"/>
              </a:ext>
            </a:extLst>
          </p:cNvPr>
          <p:cNvGrpSpPr/>
          <p:nvPr/>
        </p:nvGrpSpPr>
        <p:grpSpPr>
          <a:xfrm>
            <a:off x="60071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34897C98-E0BC-8CE6-1DF9-2CBD0C10FB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83A88880-DD5E-8761-73CE-406D045D91F9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F504E86B-70D6-6053-A326-1882085842A4}"/>
              </a:ext>
            </a:extLst>
          </p:cNvPr>
          <p:cNvSpPr txBox="1"/>
          <p:nvPr/>
        </p:nvSpPr>
        <p:spPr>
          <a:xfrm>
            <a:off x="347863" y="24375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/>
              <a:t>LSTM Model (Next 1 Hour)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EBCC-7BD8-6EEA-34CE-C53595BA5AD7}"/>
              </a:ext>
            </a:extLst>
          </p:cNvPr>
          <p:cNvSpPr txBox="1"/>
          <p:nvPr/>
        </p:nvSpPr>
        <p:spPr>
          <a:xfrm>
            <a:off x="347863" y="1005840"/>
            <a:ext cx="10454995" cy="8340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2800" b="1" dirty="0"/>
              <a:t> 🔧 </a:t>
            </a:r>
            <a:r>
              <a:rPr lang="en-US" sz="2800" b="1" dirty="0"/>
              <a:t>Build and Train LSTM Model</a:t>
            </a:r>
          </a:p>
          <a:p>
            <a:endParaRPr lang="en-US" sz="2400" b="1" dirty="0"/>
          </a:p>
          <a:p>
            <a:pPr>
              <a:spcBef>
                <a:spcPts val="600"/>
              </a:spcBef>
            </a:pPr>
            <a:r>
              <a:rPr lang="ar-EG" sz="2400" b="1" dirty="0"/>
              <a:t>🏗️ 1 </a:t>
            </a:r>
            <a:r>
              <a:rPr lang="en-US" sz="2400" b="1" dirty="0"/>
              <a:t> Model Architecture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LSTM Layer 1: 50 units, returns sequences for the next LSTM layer.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LSTM Layer 2: 50 units, outputs a single vector.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Dense Layer: Outputs the predicted traffic volume.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Loss Function: Mean Squared Error (mean squared error).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Optimizer: RMSprop (efficient for RNNs like LSTM).</a:t>
            </a:r>
          </a:p>
          <a:p>
            <a:pPr>
              <a:spcBef>
                <a:spcPts val="600"/>
              </a:spcBef>
            </a:pPr>
            <a:r>
              <a:rPr lang="ar-EG" sz="2400" b="1" dirty="0"/>
              <a:t> 🛡️ 2 </a:t>
            </a:r>
            <a:r>
              <a:rPr lang="en-US" sz="2400" b="1" dirty="0"/>
              <a:t>Regularization and Stability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Commented out Dropout layers to avoid underfitting initially.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Used Early Stopping: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Monitors validation loss.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Stops training if there's no improvement for 8 consecutive epochs.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Restores the best model weights found during training.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 3 </a:t>
            </a:r>
            <a:r>
              <a:rPr lang="en-US" sz="2400" dirty="0"/>
              <a:t>⚙️</a:t>
            </a:r>
            <a:r>
              <a:rPr lang="en-US" sz="2400" b="1" dirty="0"/>
              <a:t>Model Training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Epochs: up to 100 (stops early if overfitting detected).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Batch Size: 32 (a standard size for balancing performance and stability).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Verbose: set to 0 for silent training.</a:t>
            </a:r>
          </a:p>
          <a:p>
            <a:pPr>
              <a:spcBef>
                <a:spcPts val="600"/>
              </a:spcBef>
            </a:pPr>
            <a:r>
              <a:rPr lang="ar-EG" sz="2400" b="1" dirty="0"/>
              <a:t> 🔮 4 </a:t>
            </a:r>
            <a:r>
              <a:rPr lang="en-US" sz="2400" b="1" dirty="0"/>
              <a:t>Predictions and Evaluation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MAE (Mean Absolute Error): </a:t>
            </a:r>
            <a:r>
              <a:rPr lang="en-US" sz="1800" b="1" dirty="0"/>
              <a:t>0.048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RMSE (Root Mean Squared Error): </a:t>
            </a:r>
            <a:r>
              <a:rPr lang="en-US" sz="1800" b="1" dirty="0"/>
              <a:t>0.077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R² Score: </a:t>
            </a:r>
            <a:r>
              <a:rPr lang="en-US" sz="1800" b="1" dirty="0"/>
              <a:t>0.918</a:t>
            </a:r>
            <a:endParaRPr lang="ar-EG" sz="1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4DCCB2-B068-96B7-E357-9A64B395B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5472900"/>
            <a:ext cx="7858877" cy="408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082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D6F7ABEF-22E7-5D69-F081-0ABA12BD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057C6-DF7C-9F79-B97E-EC380E7F6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982979"/>
            <a:ext cx="8145262" cy="4476750"/>
          </a:xfrm>
          <a:prstGeom prst="rect">
            <a:avLst/>
          </a:prstGeom>
        </p:spPr>
      </p:pic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8E862356-E171-49A6-3AB2-9BF0CAC669F6}"/>
              </a:ext>
            </a:extLst>
          </p:cNvPr>
          <p:cNvGrpSpPr/>
          <p:nvPr/>
        </p:nvGrpSpPr>
        <p:grpSpPr>
          <a:xfrm>
            <a:off x="17259300" y="-2238226"/>
            <a:ext cx="3086100" cy="326692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9DCD9004-7EE2-EBF9-C2EE-9A633E5630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99FA1244-1A92-EA27-FEFF-672CD280868C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1BBC37B2-851C-891F-F6F7-EBACC918A226}"/>
              </a:ext>
            </a:extLst>
          </p:cNvPr>
          <p:cNvGrpSpPr/>
          <p:nvPr/>
        </p:nvGrpSpPr>
        <p:grpSpPr>
          <a:xfrm>
            <a:off x="1028700" y="10043250"/>
            <a:ext cx="6959600" cy="586650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6624640F-1196-442B-392B-016421A000AE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6B73804B-CFF8-A78C-DDD3-A79F82BCC703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31BA10E4-BAC0-2CFF-FCE8-9D9B762A93F4}"/>
              </a:ext>
            </a:extLst>
          </p:cNvPr>
          <p:cNvGrpSpPr/>
          <p:nvPr/>
        </p:nvGrpSpPr>
        <p:grpSpPr>
          <a:xfrm>
            <a:off x="60071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BFB0AEA5-2B5C-5444-6C5E-AB31E8750C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0E45D56C-6AEB-C486-3D1E-634C8AF569E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1406B533-A7B8-A216-F4C2-E817504C9107}"/>
              </a:ext>
            </a:extLst>
          </p:cNvPr>
          <p:cNvSpPr txBox="1"/>
          <p:nvPr/>
        </p:nvSpPr>
        <p:spPr>
          <a:xfrm>
            <a:off x="347863" y="24375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/>
              <a:t>GRU Model (Next 1 Hour)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4A38A8-914B-C6AA-12A7-A18BD0C2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472900"/>
            <a:ext cx="7881737" cy="4081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235D55-EC4A-C734-60D3-504B738298AB}"/>
              </a:ext>
            </a:extLst>
          </p:cNvPr>
          <p:cNvSpPr txBox="1"/>
          <p:nvPr/>
        </p:nvSpPr>
        <p:spPr>
          <a:xfrm>
            <a:off x="347863" y="882162"/>
            <a:ext cx="10172700" cy="90332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b="1"/>
            </a:lvl1pPr>
          </a:lstStyle>
          <a:p>
            <a:pPr>
              <a:spcBef>
                <a:spcPts val="600"/>
              </a:spcBef>
            </a:pPr>
            <a:r>
              <a:rPr lang="en-US" sz="2800" dirty="0"/>
              <a:t>🔧 Build and Train GRU Model</a:t>
            </a:r>
          </a:p>
          <a:p>
            <a:pPr>
              <a:spcBef>
                <a:spcPts val="600"/>
              </a:spcBef>
            </a:pPr>
            <a:endParaRPr lang="en-US" sz="2800" dirty="0"/>
          </a:p>
          <a:p>
            <a:pPr>
              <a:spcBef>
                <a:spcPts val="600"/>
              </a:spcBef>
            </a:pPr>
            <a:r>
              <a:rPr lang="en-US" dirty="0"/>
              <a:t>🏗️ 1 Model Architecture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GRU Layer 1: 50 units, returns sequences for the next GRU layer.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GRU Layer 2: 50 units, outputs a single vector.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Dense Layer: Outputs the predicted traffic volume.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Loss Function: Mean Squared Error (</a:t>
            </a:r>
            <a:r>
              <a:rPr lang="en-US" sz="2000" b="0" dirty="0" err="1"/>
              <a:t>mean_squared_error</a:t>
            </a:r>
            <a:r>
              <a:rPr lang="en-US" sz="2000" b="0" dirty="0"/>
              <a:t>).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Optimizer: Adam optimizer with a learning rate of 0.0005 (faster convergence compared to RMSprop).</a:t>
            </a:r>
          </a:p>
          <a:p>
            <a:pPr>
              <a:spcBef>
                <a:spcPts val="600"/>
              </a:spcBef>
            </a:pPr>
            <a:r>
              <a:rPr lang="en-US" dirty="0"/>
              <a:t>🛡️ 2 Regularization and Stability</a:t>
            </a:r>
            <a:endParaRPr lang="en-US" sz="2000" dirty="0"/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/>
              <a:t>Commented out Dropout layers to test model capacity without regularization first.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/>
              <a:t>Used </a:t>
            </a:r>
            <a:r>
              <a:rPr lang="en-US" sz="1800" b="0" dirty="0" err="1"/>
              <a:t>EarlyStopping</a:t>
            </a:r>
            <a:r>
              <a:rPr lang="en-US" sz="1800" b="0" dirty="0"/>
              <a:t>: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/>
              <a:t>Monitors validation loss (</a:t>
            </a:r>
            <a:r>
              <a:rPr lang="en-US" sz="1800" b="0" dirty="0" err="1"/>
              <a:t>val_loss</a:t>
            </a:r>
            <a:r>
              <a:rPr lang="en-US" sz="1800" b="0" dirty="0"/>
              <a:t>).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/>
              <a:t>Stops training if there's no improvement for 8 consecutive epochs.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/>
              <a:t>Restores the best model weights found during training.</a:t>
            </a:r>
          </a:p>
          <a:p>
            <a:pPr>
              <a:spcBef>
                <a:spcPts val="600"/>
              </a:spcBef>
            </a:pPr>
            <a:r>
              <a:rPr lang="en-US" dirty="0"/>
              <a:t>⚙️ 3 Model Training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Epochs: Up to 100 (early stopping will stop before if overfitting occurs).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Batch Size: 32.</a:t>
            </a:r>
          </a:p>
          <a:p>
            <a:pPr marL="10287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/>
              <a:t>Verbose: set to 0 for silent training (change to 1 for detailed output).</a:t>
            </a:r>
          </a:p>
          <a:p>
            <a:pPr>
              <a:spcBef>
                <a:spcPts val="600"/>
              </a:spcBef>
            </a:pPr>
            <a:r>
              <a:rPr lang="en-US" dirty="0"/>
              <a:t>🔮 4 Predictions and Evaluation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MAE (Mean Absolute Error): 0.050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RMSE (Root Mean Squared Error): 0.078</a:t>
            </a:r>
          </a:p>
          <a:p>
            <a:pPr marL="1188720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R² Score: 0.917</a:t>
            </a:r>
            <a:endParaRPr lang="ar-EG" sz="1800" dirty="0"/>
          </a:p>
        </p:txBody>
      </p:sp>
    </p:spTree>
    <p:extLst>
      <p:ext uri="{BB962C8B-B14F-4D97-AF65-F5344CB8AC3E}">
        <p14:creationId xmlns:p14="http://schemas.microsoft.com/office/powerpoint/2010/main" val="1853591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EC3B920D-17AD-F7C6-3E04-51A1893B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6F2D82-C30C-90D4-D65C-D4127E7D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437" y="243750"/>
            <a:ext cx="8991532" cy="5395913"/>
          </a:xfrm>
          <a:prstGeom prst="rect">
            <a:avLst/>
          </a:prstGeom>
        </p:spPr>
      </p:pic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8CE34A03-1EAC-6531-C24F-5F459812A45B}"/>
              </a:ext>
            </a:extLst>
          </p:cNvPr>
          <p:cNvGrpSpPr/>
          <p:nvPr/>
        </p:nvGrpSpPr>
        <p:grpSpPr>
          <a:xfrm>
            <a:off x="17329710" y="-2238226"/>
            <a:ext cx="3015689" cy="328978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E959920F-C635-3FD5-E228-1C664ECAE2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8B44FCBC-D707-0C2D-33CC-269DAFAE449A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FD725C95-0031-DB4C-5F54-5E106F727D34}"/>
              </a:ext>
            </a:extLst>
          </p:cNvPr>
          <p:cNvGrpSpPr/>
          <p:nvPr/>
        </p:nvGrpSpPr>
        <p:grpSpPr>
          <a:xfrm>
            <a:off x="1028700" y="9554437"/>
            <a:ext cx="6959600" cy="1075463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C42B1743-01E5-516B-D2B1-C1372EC56F27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819EFBA8-40DC-4BD8-793A-C50575DC9E20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3265B8EC-3D61-4548-ACDB-038A09D40A5D}"/>
              </a:ext>
            </a:extLst>
          </p:cNvPr>
          <p:cNvGrpSpPr/>
          <p:nvPr/>
        </p:nvGrpSpPr>
        <p:grpSpPr>
          <a:xfrm>
            <a:off x="641858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F2A5CE79-9BB8-EBFF-474E-B00A30429A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40C0EE8B-4591-384D-2FF7-2B8A35C6D0A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6974BB39-08A0-D7B8-6477-98B494257812}"/>
              </a:ext>
            </a:extLst>
          </p:cNvPr>
          <p:cNvSpPr txBox="1"/>
          <p:nvPr/>
        </p:nvSpPr>
        <p:spPr>
          <a:xfrm>
            <a:off x="347863" y="24375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/>
              <a:t>LSTM Model (Next 6 Hours)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A3D6D-8EF0-2A5C-8973-7138C5338F96}"/>
              </a:ext>
            </a:extLst>
          </p:cNvPr>
          <p:cNvSpPr txBox="1"/>
          <p:nvPr/>
        </p:nvSpPr>
        <p:spPr>
          <a:xfrm>
            <a:off x="347863" y="859303"/>
            <a:ext cx="10172700" cy="90332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spcBef>
                <a:spcPts val="600"/>
              </a:spcBef>
              <a:defRPr sz="2800" b="1"/>
            </a:lvl1pPr>
          </a:lstStyle>
          <a:p>
            <a:r>
              <a:rPr lang="ar-EG" dirty="0"/>
              <a:t>🔧</a:t>
            </a:r>
            <a:r>
              <a:rPr lang="en-US" dirty="0"/>
              <a:t> </a:t>
            </a:r>
            <a:r>
              <a:rPr lang="en-US" sz="2400" dirty="0"/>
              <a:t>Build and Train LSTM Model for Multi-Step Forecasting</a:t>
            </a:r>
          </a:p>
          <a:p>
            <a:r>
              <a:rPr lang="ar-EG" sz="2400" dirty="0"/>
              <a:t>🏗️ 1 </a:t>
            </a:r>
            <a:r>
              <a:rPr lang="en-US" sz="2400" dirty="0"/>
              <a:t> Model Architecture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LSTM Layer 1: 32 units, returns sequences.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Dropout Layer: 20% dropout to reduce overfitting.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LSTM Layer 2: 32 units, outputs the final hidden state.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Dense Layer: Outputs 6 values, each predicting the traffic volume for</a:t>
            </a:r>
          </a:p>
          <a:p>
            <a:pPr marL="868362"/>
            <a:r>
              <a:rPr lang="en-US" sz="1800" b="0" dirty="0"/>
              <a:t>    the next 6 hours.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Loss Function: Mean Squared Error (</a:t>
            </a:r>
            <a:r>
              <a:rPr lang="en-US" sz="1800" b="0" dirty="0" err="1"/>
              <a:t>mse</a:t>
            </a:r>
            <a:r>
              <a:rPr lang="en-US" sz="1800" b="0" dirty="0"/>
              <a:t>).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Optimizer: Adam.</a:t>
            </a:r>
            <a:endParaRPr lang="en-US" sz="1600" b="0" dirty="0"/>
          </a:p>
          <a:p>
            <a:r>
              <a:rPr lang="ar-EG" sz="2400" dirty="0"/>
              <a:t> 🛡️ 2 </a:t>
            </a:r>
            <a:r>
              <a:rPr lang="en-US" sz="2400" dirty="0"/>
              <a:t>Regularization and Stability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Used Dropout to avoid overfitting.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Added </a:t>
            </a:r>
            <a:r>
              <a:rPr lang="en-US" sz="1800" b="0" dirty="0" err="1"/>
              <a:t>EarlyStopping</a:t>
            </a:r>
            <a:r>
              <a:rPr lang="en-US" sz="1800" b="0" dirty="0"/>
              <a:t>: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Monitors validation loss (</a:t>
            </a:r>
            <a:r>
              <a:rPr lang="en-US" sz="1800" b="0" dirty="0" err="1"/>
              <a:t>val_loss</a:t>
            </a:r>
            <a:r>
              <a:rPr lang="en-US" sz="1800" b="0" dirty="0"/>
              <a:t>).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Stops training if no improvement occurs for 8 consecutive epochs.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Restores the best weights.</a:t>
            </a:r>
          </a:p>
          <a:p>
            <a:r>
              <a:rPr lang="en-US" sz="2400" dirty="0"/>
              <a:t> 3 ⚙️ Model Training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Epochs: Up to 50 (can stop early).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Batch Size: 32.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Verbose: set to 0 for silent training.</a:t>
            </a:r>
            <a:endParaRPr lang="en-US" sz="1600" b="0" dirty="0"/>
          </a:p>
          <a:p>
            <a:r>
              <a:rPr lang="ar-EG" sz="2400" dirty="0"/>
              <a:t> 🔮 4 </a:t>
            </a:r>
            <a:r>
              <a:rPr lang="en-US" sz="2400" dirty="0"/>
              <a:t>Predictions and Evaluation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b="0" dirty="0"/>
              <a:t>Model predicts a sequence of 6 traffic volumes for each test sample.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dirty="0"/>
              <a:t>MAE (Mean Absolute Error): 0.061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dirty="0"/>
              <a:t>RMSE (Root Mean Squared Error): 0.095</a:t>
            </a:r>
          </a:p>
          <a:p>
            <a:pPr marL="1143000" indent="-274638">
              <a:buFont typeface="Arial" panose="020B0604020202020204" pitchFamily="34" charset="0"/>
              <a:buChar char="•"/>
            </a:pPr>
            <a:r>
              <a:rPr lang="en-US" sz="1800" dirty="0"/>
              <a:t>R² Score: 0.877</a:t>
            </a:r>
            <a:endParaRPr lang="ar-E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2C282-1303-3F2C-362D-B522075A4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438" y="5989319"/>
            <a:ext cx="8991532" cy="393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9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5DFEC7B8-2F77-92E1-AEA8-1AF69864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A69B7D6D-8E23-B05C-264C-7669A747FB98}"/>
              </a:ext>
            </a:extLst>
          </p:cNvPr>
          <p:cNvGrpSpPr/>
          <p:nvPr/>
        </p:nvGrpSpPr>
        <p:grpSpPr>
          <a:xfrm>
            <a:off x="17329710" y="-2238226"/>
            <a:ext cx="3015689" cy="328978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FA31A2D8-D945-69EC-3FDC-D3AEA76209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4927B7CF-3FC8-D257-268E-E0538086FE6D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086078BC-883D-5E08-2BA0-6A8D59B629C1}"/>
              </a:ext>
            </a:extLst>
          </p:cNvPr>
          <p:cNvGrpSpPr/>
          <p:nvPr/>
        </p:nvGrpSpPr>
        <p:grpSpPr>
          <a:xfrm>
            <a:off x="1028700" y="9554437"/>
            <a:ext cx="6959600" cy="1075463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A10291BC-A5B7-2EBA-BC66-9B49EFF8D747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123696B2-3127-64BC-6B0B-AD1339E10E39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88549C4A-079C-E8E0-C9CC-FC554CEBB7EB}"/>
              </a:ext>
            </a:extLst>
          </p:cNvPr>
          <p:cNvGrpSpPr/>
          <p:nvPr/>
        </p:nvGrpSpPr>
        <p:grpSpPr>
          <a:xfrm>
            <a:off x="6007100" y="-2353537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6C30D8C0-CC9E-94BB-67A1-296D82D560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FA5CAFA4-D038-2748-6D2C-90A093A0BA2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2F7672AC-54AE-AF0C-C1EF-F4B1BDD5207A}"/>
              </a:ext>
            </a:extLst>
          </p:cNvPr>
          <p:cNvSpPr txBox="1"/>
          <p:nvPr/>
        </p:nvSpPr>
        <p:spPr>
          <a:xfrm>
            <a:off x="347863" y="24375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/>
              <a:t>GRU Model (Next 6 Hours)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38AA5-1339-F735-03CF-2E7388EC098B}"/>
              </a:ext>
            </a:extLst>
          </p:cNvPr>
          <p:cNvSpPr txBox="1"/>
          <p:nvPr/>
        </p:nvSpPr>
        <p:spPr>
          <a:xfrm>
            <a:off x="78502" y="1025316"/>
            <a:ext cx="10172700" cy="8648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spcBef>
                <a:spcPts val="600"/>
              </a:spcBef>
              <a:defRPr sz="2800" b="1"/>
            </a:lvl1pPr>
          </a:lstStyle>
          <a:p>
            <a:r>
              <a:rPr lang="ar-EG" dirty="0"/>
              <a:t>🔧 </a:t>
            </a:r>
            <a:r>
              <a:rPr lang="en-US" dirty="0"/>
              <a:t>Build and Train GRU Model for Multi-Step </a:t>
            </a:r>
          </a:p>
          <a:p>
            <a:r>
              <a:rPr lang="en-US" dirty="0"/>
              <a:t>       Forecasting</a:t>
            </a:r>
          </a:p>
          <a:p>
            <a:endParaRPr lang="en-US" sz="2400" dirty="0"/>
          </a:p>
          <a:p>
            <a:r>
              <a:rPr lang="ar-EG" sz="2400" dirty="0"/>
              <a:t> 🏗️ 1 </a:t>
            </a:r>
            <a:r>
              <a:rPr lang="en-US" sz="2400" dirty="0"/>
              <a:t>Model Architecture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GRU Layer 1: 64 units, returns sequences.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GRU Layer 2: 64 units, outputs the final hidden state.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Dense Layer: Outputs 6 values, predicting the next 6 hours.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Loss Function: Mean Squared Error (</a:t>
            </a:r>
            <a:r>
              <a:rPr lang="en-US" sz="2000" b="0" dirty="0" err="1"/>
              <a:t>mse</a:t>
            </a:r>
            <a:r>
              <a:rPr lang="en-US" sz="2000" b="0" dirty="0"/>
              <a:t>).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Optimizer: Adam.</a:t>
            </a:r>
            <a:endParaRPr lang="en-US" sz="1800" b="0" dirty="0"/>
          </a:p>
          <a:p>
            <a:r>
              <a:rPr lang="ar-EG" sz="2400" dirty="0"/>
              <a:t>🛡️ 2 </a:t>
            </a:r>
            <a:r>
              <a:rPr lang="en-US" sz="2400" dirty="0"/>
              <a:t> Stability &amp; Regularization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Dropout layers were removed in this version for testing.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Used Early Stopping same as before.</a:t>
            </a:r>
            <a:endParaRPr lang="en-US" sz="1800" b="0" dirty="0"/>
          </a:p>
          <a:p>
            <a:r>
              <a:rPr lang="en-US" sz="2400" dirty="0"/>
              <a:t> 3 ⚙️ Model Training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Epochs: Up to 50 (early stopping applies).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Batch Size: 32.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Verbose: Silent training (verbose=0).</a:t>
            </a:r>
            <a:endParaRPr lang="en-US" sz="1800" b="0" dirty="0"/>
          </a:p>
          <a:p>
            <a:r>
              <a:rPr lang="ar-EG" sz="2400" dirty="0"/>
              <a:t>🔮 4 </a:t>
            </a:r>
            <a:r>
              <a:rPr lang="en-US" sz="2400" dirty="0"/>
              <a:t> Predictions and Evaluation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Predicted 6 traffic volume values for each input.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MAE: </a:t>
            </a:r>
            <a:r>
              <a:rPr lang="en-US" sz="2000" dirty="0"/>
              <a:t>0.062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RMSE: </a:t>
            </a:r>
            <a:r>
              <a:rPr lang="en-US" sz="2000" dirty="0"/>
              <a:t>0.097</a:t>
            </a:r>
          </a:p>
          <a:p>
            <a:pPr marL="1028700" indent="-160338">
              <a:buFont typeface="Arial" panose="020B0604020202020204" pitchFamily="34" charset="0"/>
              <a:buChar char="•"/>
            </a:pPr>
            <a:r>
              <a:rPr lang="en-US" sz="2000" b="0" dirty="0"/>
              <a:t>R²:</a:t>
            </a:r>
            <a:r>
              <a:rPr lang="en-US" sz="2000" dirty="0"/>
              <a:t>0.873</a:t>
            </a:r>
            <a:endParaRPr lang="ar-EG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E1288-7E1B-C53A-77C1-0EA4D0338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301" y="6640596"/>
            <a:ext cx="10026494" cy="34964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FAEAE3-111E-17B2-6834-93128BCC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301" y="732563"/>
            <a:ext cx="9626802" cy="57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80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28DBBC10-13C0-9529-A632-27F63444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E2249E03-7F8C-99EA-0A33-6F79C858A139}"/>
              </a:ext>
            </a:extLst>
          </p:cNvPr>
          <p:cNvGrpSpPr/>
          <p:nvPr/>
        </p:nvGrpSpPr>
        <p:grpSpPr>
          <a:xfrm>
            <a:off x="17329710" y="-2238226"/>
            <a:ext cx="3015689" cy="3289786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4B41E8E0-FF4D-6693-571A-E0FD34EB1E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380C4A13-DBBA-6EAA-1782-3D28419B6FB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EA7995FE-CEE1-2180-6993-A7D3262066CB}"/>
              </a:ext>
            </a:extLst>
          </p:cNvPr>
          <p:cNvGrpSpPr/>
          <p:nvPr/>
        </p:nvGrpSpPr>
        <p:grpSpPr>
          <a:xfrm>
            <a:off x="4393962" y="9769658"/>
            <a:ext cx="6959600" cy="1075463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85C1E508-CBCE-58BF-3325-1627A5DC54EE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8038DA02-309F-0334-11FF-22DEDD2A38CD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4B439BA4-A1D9-A3D8-4B14-733B0985D852}"/>
              </a:ext>
            </a:extLst>
          </p:cNvPr>
          <p:cNvGrpSpPr/>
          <p:nvPr/>
        </p:nvGrpSpPr>
        <p:grpSpPr>
          <a:xfrm>
            <a:off x="8332470" y="-2453161"/>
            <a:ext cx="3086100" cy="30861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F8E2A0FD-2534-2F57-A468-67B90BBE6E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4BDB6857-0844-3B4C-0A9D-CF82A7870D8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736D4C40-A478-0C55-2D21-5AD869D2CED4}"/>
              </a:ext>
            </a:extLst>
          </p:cNvPr>
          <p:cNvSpPr txBox="1"/>
          <p:nvPr/>
        </p:nvSpPr>
        <p:spPr>
          <a:xfrm>
            <a:off x="127002" y="68580"/>
            <a:ext cx="832127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/>
              <a:t>Summary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95AB7-E5B1-5FE0-4BD8-CECC7CEBE333}"/>
              </a:ext>
            </a:extLst>
          </p:cNvPr>
          <p:cNvSpPr txBox="1"/>
          <p:nvPr/>
        </p:nvSpPr>
        <p:spPr>
          <a:xfrm>
            <a:off x="127002" y="741435"/>
            <a:ext cx="9374900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✅ Key Insights</a:t>
            </a:r>
          </a:p>
          <a:p>
            <a:endParaRPr lang="en-US" sz="2000" dirty="0"/>
          </a:p>
          <a:p>
            <a:pPr marL="685800" indent="-228600">
              <a:buFont typeface="Arial" panose="020B0604020202020204" pitchFamily="34" charset="0"/>
              <a:buChar char="•"/>
            </a:pPr>
            <a:r>
              <a:rPr lang="en-US" sz="2000" dirty="0"/>
              <a:t>Both models can capture hourly traffic patterns, but GRU showed better generalization.</a:t>
            </a:r>
          </a:p>
          <a:p>
            <a:pPr marL="685800" indent="-228600">
              <a:buFont typeface="Arial" panose="020B0604020202020204" pitchFamily="34" charset="0"/>
              <a:buChar char="•"/>
            </a:pPr>
            <a:r>
              <a:rPr lang="en-US" sz="2000" dirty="0"/>
              <a:t>LSTM required more regularization (early stopping, dropout) to avoid overfitting.</a:t>
            </a:r>
          </a:p>
          <a:p>
            <a:pPr marL="685800" indent="-228600">
              <a:buFont typeface="Arial" panose="020B0604020202020204" pitchFamily="34" charset="0"/>
              <a:buChar char="•"/>
            </a:pPr>
            <a:r>
              <a:rPr lang="en-US" sz="2000" dirty="0"/>
              <a:t>GRU trained faster and gave slightly better RMSE on test data.</a:t>
            </a:r>
          </a:p>
          <a:p>
            <a:pPr marL="685800" indent="-228600"/>
            <a:endParaRPr lang="en-US" sz="2000" dirty="0"/>
          </a:p>
          <a:p>
            <a:r>
              <a:rPr lang="en-US" sz="2000" dirty="0"/>
              <a:t>✅ Summary of Results</a:t>
            </a:r>
          </a:p>
          <a:p>
            <a:endParaRPr lang="en-US" sz="2000" dirty="0"/>
          </a:p>
          <a:p>
            <a:r>
              <a:rPr lang="en-US" sz="2000" dirty="0"/>
              <a:t>We applied both LSTM and GRU models to predict traffic volume over the next 6 hours using hourly and weather-related data.</a:t>
            </a:r>
          </a:p>
          <a:p>
            <a:r>
              <a:rPr lang="en-US" sz="2000" dirty="0"/>
              <a:t>The models were evaluated using MAE, RMSE, and R² Score.</a:t>
            </a:r>
          </a:p>
          <a:p>
            <a:endParaRPr lang="en-US" sz="2000" dirty="0"/>
          </a:p>
          <a:p>
            <a:r>
              <a:rPr lang="en-US" sz="2000" dirty="0"/>
              <a:t>🔢 Performance Results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🔍   Key Takeaways</a:t>
            </a:r>
          </a:p>
          <a:p>
            <a:pPr marL="639763" indent="-182563">
              <a:buFont typeface="Arial" panose="020B0604020202020204" pitchFamily="34" charset="0"/>
              <a:buChar char="•"/>
            </a:pPr>
            <a:r>
              <a:rPr lang="en-US" sz="1800" dirty="0"/>
              <a:t>Both LSTM and GRU gave very close performance, with LSTM performing slightly better on the test data.</a:t>
            </a:r>
          </a:p>
          <a:p>
            <a:pPr marL="639763" indent="-182563">
              <a:buFont typeface="Arial" panose="020B0604020202020204" pitchFamily="34" charset="0"/>
              <a:buChar char="•"/>
            </a:pPr>
            <a:r>
              <a:rPr lang="en-US" sz="1800" dirty="0"/>
              <a:t>No significant overfitting was observed in either model.</a:t>
            </a:r>
          </a:p>
          <a:p>
            <a:pPr marL="639763" indent="-182563">
              <a:buFont typeface="Arial" panose="020B0604020202020204" pitchFamily="34" charset="0"/>
              <a:buChar char="•"/>
            </a:pPr>
            <a:r>
              <a:rPr lang="en-US" sz="1800" dirty="0"/>
              <a:t>The models successfully captured the hourly traffic patterns and provided accurate multi-step predictions.</a:t>
            </a:r>
          </a:p>
          <a:p>
            <a:pPr marL="639763" indent="-182563">
              <a:buFont typeface="Arial" panose="020B0604020202020204" pitchFamily="34" charset="0"/>
              <a:buChar char="•"/>
            </a:pPr>
            <a:r>
              <a:rPr lang="en-US" sz="1800" dirty="0"/>
              <a:t>Either model could be used for time-based forecasting, but LSTM had a slight performance edge in this case.</a:t>
            </a:r>
            <a:endParaRPr lang="ar-EG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29E211-931C-D4C6-84A6-5AC24FE3C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357096"/>
              </p:ext>
            </p:extLst>
          </p:nvPr>
        </p:nvGraphicFramePr>
        <p:xfrm>
          <a:off x="700804" y="5494641"/>
          <a:ext cx="8181576" cy="2402018"/>
        </p:xfrm>
        <a:graphic>
          <a:graphicData uri="http://schemas.openxmlformats.org/drawingml/2006/table">
            <a:tbl>
              <a:tblPr rtl="1" firstRow="1" bandRow="1">
                <a:tableStyleId>{68D230F3-CF80-4859-8CE7-A43EE81993B5}</a:tableStyleId>
              </a:tblPr>
              <a:tblGrid>
                <a:gridCol w="2727192">
                  <a:extLst>
                    <a:ext uri="{9D8B030D-6E8A-4147-A177-3AD203B41FA5}">
                      <a16:colId xmlns:a16="http://schemas.microsoft.com/office/drawing/2014/main" val="2951335966"/>
                    </a:ext>
                  </a:extLst>
                </a:gridCol>
                <a:gridCol w="3069088">
                  <a:extLst>
                    <a:ext uri="{9D8B030D-6E8A-4147-A177-3AD203B41FA5}">
                      <a16:colId xmlns:a16="http://schemas.microsoft.com/office/drawing/2014/main" val="3037427121"/>
                    </a:ext>
                  </a:extLst>
                </a:gridCol>
                <a:gridCol w="2385296">
                  <a:extLst>
                    <a:ext uri="{9D8B030D-6E8A-4147-A177-3AD203B41FA5}">
                      <a16:colId xmlns:a16="http://schemas.microsoft.com/office/drawing/2014/main" val="2053503444"/>
                    </a:ext>
                  </a:extLst>
                </a:gridCol>
              </a:tblGrid>
              <a:tr h="295158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GRU Model</a:t>
                      </a:r>
                      <a:endParaRPr lang="ar-EG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LSTM Model </a:t>
                      </a:r>
                      <a:endParaRPr lang="ar-EG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Metric</a:t>
                      </a:r>
                      <a:endParaRPr lang="ar-EG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981305"/>
                  </a:ext>
                </a:extLst>
              </a:tr>
              <a:tr h="37804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0.063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0.060</a:t>
                      </a:r>
                      <a:endParaRPr lang="ar-EG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Test MAE</a:t>
                      </a:r>
                      <a:endParaRPr lang="ar-EG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939434"/>
                  </a:ext>
                </a:extLst>
              </a:tr>
              <a:tr h="37804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0.096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0.093</a:t>
                      </a:r>
                      <a:endParaRPr lang="ar-EG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Test RMSE</a:t>
                      </a:r>
                      <a:endParaRPr lang="ar-EG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727976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0.874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0.881</a:t>
                      </a:r>
                      <a:endParaRPr lang="ar-EG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Test R²</a:t>
                      </a:r>
                      <a:endParaRPr lang="ar-EG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467073"/>
                  </a:ext>
                </a:extLst>
              </a:tr>
              <a:tr h="73721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No clear overfitting</a:t>
                      </a:r>
                    </a:p>
                    <a:p>
                      <a:pPr algn="ctr" rtl="1"/>
                      <a:endParaRPr lang="ar-EG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No clear overfitting</a:t>
                      </a:r>
                      <a:endParaRPr lang="ar-EG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/>
                        <a:t>Overfitting</a:t>
                      </a:r>
                      <a:endParaRPr lang="ar-EG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59099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15AD9D7-5375-CF65-CAC4-3929D98E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750" y="1051560"/>
            <a:ext cx="8462248" cy="4084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70297E-D26F-B839-C9E3-8176CB075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750" y="5447466"/>
            <a:ext cx="8462248" cy="42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25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1287</Words>
  <Application>Microsoft Office PowerPoint</Application>
  <PresentationFormat>Custom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Roboto</vt:lpstr>
      <vt:lpstr>Calibri</vt:lpstr>
      <vt:lpstr>League Spartan</vt:lpstr>
      <vt:lpstr>Aptos (Body)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win10</dc:creator>
  <cp:lastModifiedBy>Abdul Rahman Yahia</cp:lastModifiedBy>
  <cp:revision>5</cp:revision>
  <dcterms:created xsi:type="dcterms:W3CDTF">2006-08-16T00:00:00Z</dcterms:created>
  <dcterms:modified xsi:type="dcterms:W3CDTF">2025-07-05T17:34:29Z</dcterms:modified>
</cp:coreProperties>
</file>