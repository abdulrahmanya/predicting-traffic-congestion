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3" r:id="rId2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A3622AED-77FB-4570-9515-31CEFF7215A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A4E3431-A274-444E-A660-4C857CCD572B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91636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>
          <a:extLst>
            <a:ext uri="{FF2B5EF4-FFF2-40B4-BE49-F238E27FC236}">
              <a16:creationId xmlns:a16="http://schemas.microsoft.com/office/drawing/2014/main" id="{15128453-39F9-A214-FFAF-A0181D1A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>
            <a:extLst>
              <a:ext uri="{FF2B5EF4-FFF2-40B4-BE49-F238E27FC236}">
                <a16:creationId xmlns:a16="http://schemas.microsoft.com/office/drawing/2014/main" id="{DBAED968-2771-C24E-1D92-C2E96E89A3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6" name="Google Shape;526;p23:notes">
            <a:extLst>
              <a:ext uri="{FF2B5EF4-FFF2-40B4-BE49-F238E27FC236}">
                <a16:creationId xmlns:a16="http://schemas.microsoft.com/office/drawing/2014/main" id="{CF9CB68E-7FBA-4E99-D537-E7EBC9F04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1665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1D81-B717-BCEA-9DCC-3AD6DE334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C3D08-6602-13A9-A9D7-179B151FB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1D12F-C7A4-F98F-236A-E1FCB8B6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AA0C9-ACBE-8E5F-395C-6E98503D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4E3C4-50D6-767D-61E8-CC40FDF0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424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CD88-B6AA-1E58-7088-3837AC4C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1E27F-9301-50FE-916D-2F4D12FD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D93AD-836B-B860-6419-CEA21803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0DC4-629B-A75B-B758-B3E2E5A6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2BE2C-0502-8113-FA45-346C71AD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4045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942A-DD2B-5217-6BA8-A08B82DA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0663-DDAA-1891-87EF-9ACCB9182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F23E8-B2BF-CFA0-808B-9F75652E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BAB57-EF1D-030C-C797-A5AC9410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25A4-769C-642E-99C2-8A922C73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3203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B9CC-70F5-6258-8D9A-172EFA3A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674A7-9D63-7933-44AD-AC747DDBE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20B33-E4D9-D91D-E8AF-CA601B786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43DCE-F034-AC1A-F75C-6A4C935E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66054-7D70-EFFD-A221-DB3361A51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AEB03-61B7-2110-71C1-6A91BD58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20502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1F23-2C55-F8E2-DFB6-4C8C0C84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197E1-D177-1836-3D7D-B1B5A5522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8702A-D9ED-48AF-92B4-A46DB0C8D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19014-DEAE-965D-0DBA-EEFABB51D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54796-02ED-8FF1-B9D6-50330CEC5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40B36-F61E-A0A8-6B26-4815477C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F96D00-4F7C-6A25-D480-EB87D51B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06245-8D35-0504-F38F-940E6A88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0344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98A3-9B21-7D20-8DA8-16DAEAA2D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5384-AF83-6267-DC75-074701BE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14BA0-D776-CB0F-8B68-FB7D28BE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3F08B-A6F3-7481-F286-DB7DB594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4588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6C47F-EB96-B664-CDC8-BA341F7B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B92F0-80E8-74C3-C090-7A498E615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169EB-EC4B-B86B-F141-6AF3BBA5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0831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2458-1EDB-A9F7-56D7-B66FE776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3BAC1-9795-17F1-A161-8CD757313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817B1-6EA1-5BE0-13B9-06A312F75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A73B9-0BB0-62E6-21CD-131B0F08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6FC72-88B8-0B29-95A4-BFFC828B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08BA0-FDD7-DE0A-45E3-9EDA41E8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418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F48A-77D6-A49E-135B-555501A01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FCD8A-D104-A715-C2E9-11499B3C9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E6F19-7C2B-DD82-05C3-615600A5C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28AD8-1FFE-C158-04FD-F4CD5677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836F1-5718-D97A-BC06-BD8B93BB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E99EA-BE7E-25F9-BCD5-ECE443A8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641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2C13-9A91-7DCB-2B4B-8C9FF7AC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223CB-666F-5351-D79F-337FA2001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DCFF9-46B0-7389-ACF6-DC75A09D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8C6E9-E806-A1A9-3630-649AE4EF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24725-DCF2-8F66-4FCA-DB18AFDD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4827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251B9-12FD-7DF0-540A-F40A5575E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6241D-2871-E24F-D1B6-3DE9C8999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89D2B-12EB-A228-300C-39F4CF2D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FDB18-4C7A-F521-8D3C-3C0B8BA7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EA447-F344-9EC2-FAFE-4D84CCEC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62686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8ACDE-5D41-0ED2-18FD-EAA1DCB55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4B933-20D7-7067-9AAD-969AEED5B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1354A-01CC-8696-9381-AA6D7FE86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DCED2-2E3A-4E58-8147-FC05E04AD419}" type="datetimeFigureOut">
              <a:rPr lang="ar-EG" smtClean="0"/>
              <a:t>10/01/1447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BAF4F-6BB9-3381-4A3B-785796154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14B8D-6408-9799-B57E-416B816DF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4E59E-21F7-477A-B196-B0A2DCAF03E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508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>
          <a:extLst>
            <a:ext uri="{FF2B5EF4-FFF2-40B4-BE49-F238E27FC236}">
              <a16:creationId xmlns:a16="http://schemas.microsoft.com/office/drawing/2014/main" id="{098E5F23-FFB8-1B21-28CC-FAE79233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23">
            <a:extLst>
              <a:ext uri="{FF2B5EF4-FFF2-40B4-BE49-F238E27FC236}">
                <a16:creationId xmlns:a16="http://schemas.microsoft.com/office/drawing/2014/main" id="{5DE80898-3451-5307-19FD-2ACC15981A2A}"/>
              </a:ext>
            </a:extLst>
          </p:cNvPr>
          <p:cNvGrpSpPr/>
          <p:nvPr/>
        </p:nvGrpSpPr>
        <p:grpSpPr>
          <a:xfrm>
            <a:off x="11506200" y="-1492151"/>
            <a:ext cx="2057400" cy="2177951"/>
            <a:chOff x="0" y="-47625"/>
            <a:chExt cx="812800" cy="860425"/>
          </a:xfrm>
        </p:grpSpPr>
        <p:sp>
          <p:nvSpPr>
            <p:cNvPr id="529" name="Google Shape;529;p23">
              <a:extLst>
                <a:ext uri="{FF2B5EF4-FFF2-40B4-BE49-F238E27FC236}">
                  <a16:creationId xmlns:a16="http://schemas.microsoft.com/office/drawing/2014/main" id="{A48B0B12-0B7A-22E4-261B-7ED549EB1F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23">
              <a:extLst>
                <a:ext uri="{FF2B5EF4-FFF2-40B4-BE49-F238E27FC236}">
                  <a16:creationId xmlns:a16="http://schemas.microsoft.com/office/drawing/2014/main" id="{CA4DCF53-93B9-CEC1-C4B8-9C632566A9D1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1" name="Google Shape;531;p23">
            <a:extLst>
              <a:ext uri="{FF2B5EF4-FFF2-40B4-BE49-F238E27FC236}">
                <a16:creationId xmlns:a16="http://schemas.microsoft.com/office/drawing/2014/main" id="{B00C036A-84F2-3C8D-5E69-467B686F87CF}"/>
              </a:ext>
            </a:extLst>
          </p:cNvPr>
          <p:cNvGrpSpPr/>
          <p:nvPr/>
        </p:nvGrpSpPr>
        <p:grpSpPr>
          <a:xfrm>
            <a:off x="685800" y="6549017"/>
            <a:ext cx="4639733" cy="537583"/>
            <a:chOff x="0" y="-47625"/>
            <a:chExt cx="1832981" cy="308524"/>
          </a:xfrm>
        </p:grpSpPr>
        <p:sp>
          <p:nvSpPr>
            <p:cNvPr id="532" name="Google Shape;532;p23">
              <a:extLst>
                <a:ext uri="{FF2B5EF4-FFF2-40B4-BE49-F238E27FC236}">
                  <a16:creationId xmlns:a16="http://schemas.microsoft.com/office/drawing/2014/main" id="{4867F5C5-F0BF-788D-4664-BB9B050B8A4E}"/>
                </a:ext>
              </a:extLst>
            </p:cNvPr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 extrusionOk="0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>
              <a:extLst>
                <a:ext uri="{FF2B5EF4-FFF2-40B4-BE49-F238E27FC236}">
                  <a16:creationId xmlns:a16="http://schemas.microsoft.com/office/drawing/2014/main" id="{7C44F978-D717-D06C-2BC4-7E4B27363D92}"/>
                </a:ext>
              </a:extLst>
            </p:cNvPr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23">
            <a:extLst>
              <a:ext uri="{FF2B5EF4-FFF2-40B4-BE49-F238E27FC236}">
                <a16:creationId xmlns:a16="http://schemas.microsoft.com/office/drawing/2014/main" id="{ABE5211D-7E5F-6321-3C9D-7A2D43B002AE}"/>
              </a:ext>
            </a:extLst>
          </p:cNvPr>
          <p:cNvGrpSpPr/>
          <p:nvPr/>
        </p:nvGrpSpPr>
        <p:grpSpPr>
          <a:xfrm>
            <a:off x="3699933" y="-1569025"/>
            <a:ext cx="2057400" cy="2057400"/>
            <a:chOff x="0" y="0"/>
            <a:chExt cx="812800" cy="812800"/>
          </a:xfrm>
        </p:grpSpPr>
        <p:sp>
          <p:nvSpPr>
            <p:cNvPr id="535" name="Google Shape;535;p23">
              <a:extLst>
                <a:ext uri="{FF2B5EF4-FFF2-40B4-BE49-F238E27FC236}">
                  <a16:creationId xmlns:a16="http://schemas.microsoft.com/office/drawing/2014/main" id="{05902C4B-6A90-A3AA-8EBA-280DFA984C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23">
              <a:extLst>
                <a:ext uri="{FF2B5EF4-FFF2-40B4-BE49-F238E27FC236}">
                  <a16:creationId xmlns:a16="http://schemas.microsoft.com/office/drawing/2014/main" id="{9EE50DDD-D87E-5306-21FC-4D00F68BE15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  <a:buClr>
                  <a:srgbClr val="000000"/>
                </a:buCl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7" name="Google Shape;537;p23">
            <a:extLst>
              <a:ext uri="{FF2B5EF4-FFF2-40B4-BE49-F238E27FC236}">
                <a16:creationId xmlns:a16="http://schemas.microsoft.com/office/drawing/2014/main" id="{F4BA2DEA-6133-9E56-A5BA-8ADDA866E015}"/>
              </a:ext>
            </a:extLst>
          </p:cNvPr>
          <p:cNvSpPr txBox="1"/>
          <p:nvPr/>
        </p:nvSpPr>
        <p:spPr>
          <a:xfrm>
            <a:off x="231909" y="116780"/>
            <a:ext cx="5547516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667" b="1" dirty="0"/>
              <a:t>LSTM Model</a:t>
            </a:r>
            <a:endParaRPr lang="en-US" sz="2667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D3D22F-94E5-F098-96C3-AEB202A16B74}"/>
              </a:ext>
            </a:extLst>
          </p:cNvPr>
          <p:cNvSpPr txBox="1"/>
          <p:nvPr/>
        </p:nvSpPr>
        <p:spPr>
          <a:xfrm>
            <a:off x="339513" y="488212"/>
            <a:ext cx="667088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🛠️ Prepare Data for LSTM Model</a:t>
            </a:r>
          </a:p>
          <a:p>
            <a:endParaRPr lang="en-US" sz="1400" dirty="0"/>
          </a:p>
          <a:p>
            <a:r>
              <a:rPr lang="en-US" sz="1400" dirty="0"/>
              <a:t>🔍 1 Select Relevant Features</a:t>
            </a:r>
          </a:p>
          <a:p>
            <a:r>
              <a:rPr lang="en-US" sz="1400" dirty="0"/>
              <a:t>Selected a subset of important columns to be used as input features for LSTM:</a:t>
            </a:r>
          </a:p>
          <a:p>
            <a:endParaRPr lang="en-US" sz="1400" dirty="0"/>
          </a:p>
          <a:p>
            <a:pPr marL="578938" indent="-228611">
              <a:buFont typeface="Arial" panose="020B0604020202020204" pitchFamily="34" charset="0"/>
              <a:buChar char="•"/>
            </a:pPr>
            <a:r>
              <a:rPr lang="en-US" sz="1400" b="1" dirty="0"/>
              <a:t>Time-based features</a:t>
            </a:r>
            <a:endParaRPr lang="en-US" sz="1400" dirty="0"/>
          </a:p>
          <a:p>
            <a:pPr marL="578938" indent="-228611">
              <a:buFont typeface="Arial" panose="020B0604020202020204" pitchFamily="34" charset="0"/>
              <a:buChar char="•"/>
            </a:pPr>
            <a:r>
              <a:rPr lang="en-US" sz="1400" b="1" dirty="0"/>
              <a:t>Weather and season indicators</a:t>
            </a:r>
            <a:endParaRPr lang="en-US" sz="1400" dirty="0"/>
          </a:p>
          <a:p>
            <a:pPr marL="578938" indent="-228611">
              <a:buFont typeface="Arial" panose="020B0604020202020204" pitchFamily="34" charset="0"/>
              <a:buChar char="•"/>
            </a:pPr>
            <a:r>
              <a:rPr lang="en-US" sz="1400" b="1" dirty="0"/>
              <a:t>Continuous weather measurements</a:t>
            </a:r>
            <a:endParaRPr lang="en-US" sz="1400" dirty="0"/>
          </a:p>
          <a:p>
            <a:pPr marL="578938" indent="-228611">
              <a:buFont typeface="Arial" panose="020B0604020202020204" pitchFamily="34" charset="0"/>
              <a:buChar char="•"/>
            </a:pPr>
            <a:r>
              <a:rPr lang="en-US" sz="1400" b="1" dirty="0"/>
              <a:t>Target</a:t>
            </a:r>
          </a:p>
          <a:p>
            <a:pPr marL="578938" indent="-228611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🔧 2 Convert Dummy Variables to Integers.</a:t>
            </a:r>
          </a:p>
          <a:p>
            <a:endParaRPr lang="en-US" sz="1400" dirty="0"/>
          </a:p>
          <a:p>
            <a:endParaRPr lang="ar-EG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B49670-0CB3-36F0-7E5E-9AAA5CE7003E}"/>
              </a:ext>
            </a:extLst>
          </p:cNvPr>
          <p:cNvSpPr txBox="1"/>
          <p:nvPr/>
        </p:nvSpPr>
        <p:spPr>
          <a:xfrm>
            <a:off x="349515" y="2898084"/>
            <a:ext cx="7209525" cy="384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📊 Split and Prepare Data for LSTM</a:t>
            </a:r>
          </a:p>
          <a:p>
            <a:endParaRPr lang="en-US" sz="1400" dirty="0"/>
          </a:p>
          <a:p>
            <a:r>
              <a:rPr lang="en-US" sz="1400" dirty="0"/>
              <a:t>🔧 1 Time-Based Train/Test Split</a:t>
            </a:r>
          </a:p>
          <a:p>
            <a:pPr marL="655141"/>
            <a:r>
              <a:rPr lang="en-US" sz="1400" dirty="0"/>
              <a:t>Training set: All data from years ≤ 2017.</a:t>
            </a:r>
          </a:p>
          <a:p>
            <a:pPr marL="655141"/>
            <a:r>
              <a:rPr lang="en-US" sz="1400" dirty="0"/>
              <a:t>Testing set: All data from years &gt; 2017. </a:t>
            </a:r>
          </a:p>
          <a:p>
            <a:r>
              <a:rPr lang="en-US" sz="1400" dirty="0"/>
              <a:t>Used a time-based split to avoid data leakage from the future into the past.</a:t>
            </a:r>
          </a:p>
          <a:p>
            <a:endParaRPr lang="en-US" sz="1400" dirty="0"/>
          </a:p>
          <a:p>
            <a:r>
              <a:rPr lang="en-US" sz="1400" dirty="0"/>
              <a:t>🔧 2 Feature Scaling</a:t>
            </a:r>
          </a:p>
          <a:p>
            <a:pPr indent="685834"/>
            <a:r>
              <a:rPr lang="en-US" sz="1400" dirty="0"/>
              <a:t>Applied Min Max Scaler to normalize the data between 0 and 1.</a:t>
            </a:r>
          </a:p>
          <a:p>
            <a:pPr indent="685834"/>
            <a:r>
              <a:rPr lang="en-US" sz="1400" dirty="0"/>
              <a:t>Fit the scaler on the training data, then transformed both train and test data.</a:t>
            </a:r>
          </a:p>
          <a:p>
            <a:r>
              <a:rPr lang="en-US" sz="1400" dirty="0"/>
              <a:t>🔧 3 Create Sequences for LSTM Input</a:t>
            </a:r>
            <a:endParaRPr lang="en-US" sz="1267" dirty="0"/>
          </a:p>
          <a:p>
            <a:r>
              <a:rPr lang="en-US" sz="1267" dirty="0"/>
              <a:t>Used a sliding window approach to create sequences of data:</a:t>
            </a:r>
          </a:p>
          <a:p>
            <a:pPr marL="655141"/>
            <a:r>
              <a:rPr lang="en-US" sz="1267" dirty="0"/>
              <a:t>Each input (X) contains data from the previous 3 time steps (hours).</a:t>
            </a:r>
          </a:p>
          <a:p>
            <a:pPr marL="655141"/>
            <a:r>
              <a:rPr lang="en-US" sz="1267" dirty="0"/>
              <a:t>The target (y) is the traffic volume of the current hour.</a:t>
            </a:r>
          </a:p>
          <a:p>
            <a:pPr marL="655141"/>
            <a:r>
              <a:rPr lang="en-US" sz="1267" dirty="0"/>
              <a:t>if time steps = 3</a:t>
            </a:r>
          </a:p>
          <a:p>
            <a:pPr marL="655141"/>
            <a:r>
              <a:rPr lang="en-US" sz="1267" dirty="0"/>
              <a:t>X[0] = data from t-3 to t-1,</a:t>
            </a:r>
          </a:p>
          <a:p>
            <a:pPr marL="655141"/>
            <a:r>
              <a:rPr lang="en-US" sz="1267" dirty="0"/>
              <a:t>y[0] = traffic at time t</a:t>
            </a:r>
          </a:p>
          <a:p>
            <a:r>
              <a:rPr lang="en-US" sz="1400" dirty="0"/>
              <a:t>📐 4 Shapes of Prepared Data</a:t>
            </a:r>
            <a:endParaRPr lang="ar-EG" sz="1400" dirty="0"/>
          </a:p>
        </p:txBody>
      </p:sp>
    </p:spTree>
    <p:extLst>
      <p:ext uri="{BB962C8B-B14F-4D97-AF65-F5344CB8AC3E}">
        <p14:creationId xmlns:p14="http://schemas.microsoft.com/office/powerpoint/2010/main" val="1682896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Rahman Yahia</dc:creator>
  <cp:lastModifiedBy>Abdul Rahman Yahia</cp:lastModifiedBy>
  <cp:revision>1</cp:revision>
  <dcterms:created xsi:type="dcterms:W3CDTF">2025-07-05T14:06:55Z</dcterms:created>
  <dcterms:modified xsi:type="dcterms:W3CDTF">2025-07-05T14:07:38Z</dcterms:modified>
</cp:coreProperties>
</file>